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3657600"/>
            <a:ext cx="10058400" cy="10058400"/>
          </a:xfrm>
          <a:prstGeom prst="ellipse">
            <a:avLst/>
          </a:prstGeom>
          <a:solidFill>
            <a:srgbClr val="12524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91840"/>
            <a:ext cx="8229600" cy="8229600"/>
          </a:xfrm>
          <a:prstGeom prst="ellipse">
            <a:avLst/>
          </a:prstGeom>
          <a:solidFill>
            <a:srgbClr val="0A2C2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371600" cy="1371600"/>
          </a:xfrm>
          <a:prstGeom prst="ellipse">
            <a:avLst/>
          </a:prstGeom>
          <a:solidFill>
            <a:srgbClr val="0A2C22"/>
          </a:solidFill>
          <a:ln w="25400">
            <a:solidFill>
              <a:srgbClr val="E8B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6888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MIXED-GAMES SOLVER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a Razz Hand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player's walkthrough of the GTO solver — pick a 7th-street spot, run it two ways, read the answer.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5212080"/>
            <a:ext cx="674827" cy="946404"/>
          </a:xfrm>
          <a:prstGeom prst="roundRect">
            <a:avLst>
              <a:gd name="adj" fmla="val 948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" y="5230368"/>
            <a:ext cx="60167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10" dirty="0"/>
          </a:p>
        </p:txBody>
      </p:sp>
      <p:sp>
        <p:nvSpPr>
          <p:cNvPr id="12" name="Text 10"/>
          <p:cNvSpPr/>
          <p:nvPr/>
        </p:nvSpPr>
        <p:spPr>
          <a:xfrm>
            <a:off x="822960" y="5261458"/>
            <a:ext cx="674827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340" dirty="0"/>
          </a:p>
        </p:txBody>
      </p:sp>
      <p:sp>
        <p:nvSpPr>
          <p:cNvPr id="13" name="Shape 11"/>
          <p:cNvSpPr/>
          <p:nvPr/>
        </p:nvSpPr>
        <p:spPr>
          <a:xfrm>
            <a:off x="1625803" y="5212080"/>
            <a:ext cx="674827" cy="946404"/>
          </a:xfrm>
          <a:prstGeom prst="roundRect">
            <a:avLst>
              <a:gd name="adj" fmla="val 948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62379" y="5230368"/>
            <a:ext cx="60167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10" dirty="0"/>
          </a:p>
        </p:txBody>
      </p:sp>
      <p:sp>
        <p:nvSpPr>
          <p:cNvPr id="15" name="Text 13"/>
          <p:cNvSpPr/>
          <p:nvPr/>
        </p:nvSpPr>
        <p:spPr>
          <a:xfrm>
            <a:off x="1625803" y="5261458"/>
            <a:ext cx="674827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340" dirty="0"/>
          </a:p>
        </p:txBody>
      </p:sp>
      <p:sp>
        <p:nvSpPr>
          <p:cNvPr id="16" name="Shape 14"/>
          <p:cNvSpPr/>
          <p:nvPr/>
        </p:nvSpPr>
        <p:spPr>
          <a:xfrm>
            <a:off x="2428646" y="5212080"/>
            <a:ext cx="674827" cy="946404"/>
          </a:xfrm>
          <a:prstGeom prst="roundRect">
            <a:avLst>
              <a:gd name="adj" fmla="val 948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5222" y="5230368"/>
            <a:ext cx="60167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10" dirty="0"/>
          </a:p>
        </p:txBody>
      </p:sp>
      <p:sp>
        <p:nvSpPr>
          <p:cNvPr id="18" name="Text 16"/>
          <p:cNvSpPr/>
          <p:nvPr/>
        </p:nvSpPr>
        <p:spPr>
          <a:xfrm>
            <a:off x="2428646" y="5261458"/>
            <a:ext cx="674827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340" dirty="0"/>
          </a:p>
        </p:txBody>
      </p:sp>
      <p:sp>
        <p:nvSpPr>
          <p:cNvPr id="19" name="Shape 17"/>
          <p:cNvSpPr/>
          <p:nvPr/>
        </p:nvSpPr>
        <p:spPr>
          <a:xfrm>
            <a:off x="3231490" y="5212080"/>
            <a:ext cx="674827" cy="946404"/>
          </a:xfrm>
          <a:prstGeom prst="roundRect">
            <a:avLst>
              <a:gd name="adj" fmla="val 948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68066" y="5230368"/>
            <a:ext cx="60167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10" dirty="0"/>
          </a:p>
        </p:txBody>
      </p:sp>
      <p:sp>
        <p:nvSpPr>
          <p:cNvPr id="21" name="Text 19"/>
          <p:cNvSpPr/>
          <p:nvPr/>
        </p:nvSpPr>
        <p:spPr>
          <a:xfrm>
            <a:off x="3231490" y="5261458"/>
            <a:ext cx="674827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340" dirty="0"/>
          </a:p>
        </p:txBody>
      </p:sp>
      <p:sp>
        <p:nvSpPr>
          <p:cNvPr id="22" name="Shape 20"/>
          <p:cNvSpPr/>
          <p:nvPr/>
        </p:nvSpPr>
        <p:spPr>
          <a:xfrm>
            <a:off x="4034333" y="5212080"/>
            <a:ext cx="674827" cy="946404"/>
          </a:xfrm>
          <a:prstGeom prst="roundRect">
            <a:avLst>
              <a:gd name="adj" fmla="val 9485"/>
            </a:avLst>
          </a:prstGeom>
          <a:solidFill>
            <a:srgbClr val="125240"/>
          </a:solidFill>
          <a:ln w="15875">
            <a:solidFill>
              <a:srgbClr val="E8B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34333" y="5212080"/>
            <a:ext cx="674827" cy="946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160" dirty="0"/>
          </a:p>
        </p:txBody>
      </p:sp>
      <p:sp>
        <p:nvSpPr>
          <p:cNvPr id="24" name="Text 22"/>
          <p:cNvSpPr/>
          <p:nvPr/>
        </p:nvSpPr>
        <p:spPr>
          <a:xfrm>
            <a:off x="8686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hero's 7th street  ·  one card still face-down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solver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game-theory-optimal play for later-street razz spots. Razz is ace-to-five low: the lowest five-card hand wins the whole pot — no qualifier, and straights and flushes do not count against you.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  <a:effectLst>
            <a:outerShdw sx="100000" sy="100000" kx="0" ky="0" algn="bl" rotWithShape="0" blurRad="76200" dist="25400" dir="5400000">
              <a:srgbClr val="BBB2A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4320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0E3B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· EXACT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Node-locked spot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name the opponent's exact holdings; the solver returns the exact GTO line against THOSE hands. Best-response sharp, capped at 60 holdings — the study tool.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0EAD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029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</a:t>
            </a:r>
            <a:pPr indent="0" marL="0">
              <a:buNone/>
            </a:pPr>
            <a:r>
              <a:rPr lang="en-US" sz="1300" b="1" dirty="0">
                <a:solidFill>
                  <a:srgbClr val="B78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razz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36792" y="246888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  <a:effectLst>
            <a:outerShdw sx="100000" sy="100000" kx="0" ky="0" algn="bl" rotWithShape="0" blurRad="76200" dist="25400" dir="5400000">
              <a:srgbClr val="BBB2A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56832" y="274320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656832" y="2743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· RE-SOLVER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56832" y="3246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vs range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656832" y="376732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players get full ranges and both are solved to equilibrium — a true re-solver, no node-locking. Exact ≤1200 holdings, else bucketed over a low ladder.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56832" y="502920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0EAD9"/>
          </a:solidFill>
          <a:ln/>
        </p:spPr>
      </p:sp>
      <p:sp>
        <p:nvSpPr>
          <p:cNvPr id="18" name="Text 16"/>
          <p:cNvSpPr/>
          <p:nvPr/>
        </p:nvSpPr>
        <p:spPr>
          <a:xfrm>
            <a:off x="6839712" y="5029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</a:t>
            </a:r>
            <a:pPr indent="0" marL="0">
              <a:buNone/>
            </a:pPr>
            <a:r>
              <a:rPr lang="en-US" sz="1300" b="1" dirty="0">
                <a:solidFill>
                  <a:srgbClr val="B78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solve:range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three front doors:  </a:t>
            </a:r>
            <a:pPr indent="0" marL="0"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 ·  browser GUI  ·  HTTP API.  Pure CFR+ — no neural net at query time, solves in well under a second.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concrete 7th-street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766560" cy="1874520"/>
          </a:xfrm>
          <a:prstGeom prst="roundRect">
            <a:avLst>
              <a:gd name="adj" fmla="val 4878"/>
            </a:avLst>
          </a:prstGeom>
          <a:solidFill>
            <a:srgbClr val="0A2C22"/>
          </a:solidFill>
          <a:ln w="15875">
            <a:solidFill>
              <a:srgbClr val="E8B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 (you, seat 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shows  2 3 7 9   ·   acts first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614843" cy="862279"/>
          </a:xfrm>
          <a:prstGeom prst="roundRect">
            <a:avLst>
              <a:gd name="adj" fmla="val 1041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121408"/>
            <a:ext cx="541691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58" dirty="0"/>
          </a:p>
        </p:txBody>
      </p:sp>
      <p:sp>
        <p:nvSpPr>
          <p:cNvPr id="9" name="Text 7"/>
          <p:cNvSpPr/>
          <p:nvPr/>
        </p:nvSpPr>
        <p:spPr>
          <a:xfrm>
            <a:off x="731520" y="2148108"/>
            <a:ext cx="614843" cy="770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132" dirty="0"/>
          </a:p>
        </p:txBody>
      </p:sp>
      <p:sp>
        <p:nvSpPr>
          <p:cNvPr id="10" name="Shape 8"/>
          <p:cNvSpPr/>
          <p:nvPr/>
        </p:nvSpPr>
        <p:spPr>
          <a:xfrm>
            <a:off x="1456091" y="2103120"/>
            <a:ext cx="614843" cy="862279"/>
          </a:xfrm>
          <a:prstGeom prst="roundRect">
            <a:avLst>
              <a:gd name="adj" fmla="val 1041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92667" y="2121408"/>
            <a:ext cx="541691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8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58" dirty="0"/>
          </a:p>
        </p:txBody>
      </p:sp>
      <p:sp>
        <p:nvSpPr>
          <p:cNvPr id="12" name="Text 10"/>
          <p:cNvSpPr/>
          <p:nvPr/>
        </p:nvSpPr>
        <p:spPr>
          <a:xfrm>
            <a:off x="1456091" y="2148108"/>
            <a:ext cx="614843" cy="770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2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132" dirty="0"/>
          </a:p>
        </p:txBody>
      </p:sp>
      <p:sp>
        <p:nvSpPr>
          <p:cNvPr id="13" name="Shape 11"/>
          <p:cNvSpPr/>
          <p:nvPr/>
        </p:nvSpPr>
        <p:spPr>
          <a:xfrm>
            <a:off x="2180661" y="2103120"/>
            <a:ext cx="614843" cy="862279"/>
          </a:xfrm>
          <a:prstGeom prst="roundRect">
            <a:avLst>
              <a:gd name="adj" fmla="val 1041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17237" y="2121408"/>
            <a:ext cx="541691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58" dirty="0"/>
          </a:p>
        </p:txBody>
      </p:sp>
      <p:sp>
        <p:nvSpPr>
          <p:cNvPr id="15" name="Text 13"/>
          <p:cNvSpPr/>
          <p:nvPr/>
        </p:nvSpPr>
        <p:spPr>
          <a:xfrm>
            <a:off x="2180661" y="2148108"/>
            <a:ext cx="614843" cy="770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132" dirty="0"/>
          </a:p>
        </p:txBody>
      </p:sp>
      <p:sp>
        <p:nvSpPr>
          <p:cNvPr id="16" name="Shape 14"/>
          <p:cNvSpPr/>
          <p:nvPr/>
        </p:nvSpPr>
        <p:spPr>
          <a:xfrm>
            <a:off x="2905232" y="2103120"/>
            <a:ext cx="614843" cy="862279"/>
          </a:xfrm>
          <a:prstGeom prst="roundRect">
            <a:avLst>
              <a:gd name="adj" fmla="val 1041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41808" y="2121408"/>
            <a:ext cx="541691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8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58" dirty="0"/>
          </a:p>
        </p:txBody>
      </p:sp>
      <p:sp>
        <p:nvSpPr>
          <p:cNvPr id="18" name="Text 16"/>
          <p:cNvSpPr/>
          <p:nvPr/>
        </p:nvSpPr>
        <p:spPr>
          <a:xfrm>
            <a:off x="2905232" y="2148108"/>
            <a:ext cx="614843" cy="770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2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132" dirty="0"/>
          </a:p>
        </p:txBody>
      </p:sp>
      <p:sp>
        <p:nvSpPr>
          <p:cNvPr id="19" name="Text 17"/>
          <p:cNvSpPr/>
          <p:nvPr/>
        </p:nvSpPr>
        <p:spPr>
          <a:xfrm>
            <a:off x="4526280" y="2395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2103120"/>
            <a:ext cx="614843" cy="862279"/>
          </a:xfrm>
          <a:prstGeom prst="roundRect">
            <a:avLst>
              <a:gd name="adj" fmla="val 1041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11496" y="2121408"/>
            <a:ext cx="541691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8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58" dirty="0"/>
          </a:p>
        </p:txBody>
      </p:sp>
      <p:sp>
        <p:nvSpPr>
          <p:cNvPr id="22" name="Text 20"/>
          <p:cNvSpPr/>
          <p:nvPr/>
        </p:nvSpPr>
        <p:spPr>
          <a:xfrm>
            <a:off x="5074920" y="2148108"/>
            <a:ext cx="614843" cy="770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2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132" dirty="0"/>
          </a:p>
        </p:txBody>
      </p:sp>
      <p:sp>
        <p:nvSpPr>
          <p:cNvPr id="23" name="Shape 21"/>
          <p:cNvSpPr/>
          <p:nvPr/>
        </p:nvSpPr>
        <p:spPr>
          <a:xfrm>
            <a:off x="5799491" y="2103120"/>
            <a:ext cx="614843" cy="862279"/>
          </a:xfrm>
          <a:prstGeom prst="roundRect">
            <a:avLst>
              <a:gd name="adj" fmla="val 1041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36067" y="2121408"/>
            <a:ext cx="541691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58" dirty="0"/>
          </a:p>
        </p:txBody>
      </p:sp>
      <p:sp>
        <p:nvSpPr>
          <p:cNvPr id="25" name="Text 23"/>
          <p:cNvSpPr/>
          <p:nvPr/>
        </p:nvSpPr>
        <p:spPr>
          <a:xfrm>
            <a:off x="5799491" y="2148108"/>
            <a:ext cx="614843" cy="770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132" dirty="0"/>
          </a:p>
        </p:txBody>
      </p:sp>
      <p:sp>
        <p:nvSpPr>
          <p:cNvPr id="26" name="Shape 24"/>
          <p:cNvSpPr/>
          <p:nvPr/>
        </p:nvSpPr>
        <p:spPr>
          <a:xfrm>
            <a:off x="6524061" y="2103120"/>
            <a:ext cx="614843" cy="862279"/>
          </a:xfrm>
          <a:prstGeom prst="roundRect">
            <a:avLst>
              <a:gd name="adj" fmla="val 1041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60637" y="2121408"/>
            <a:ext cx="541691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8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58" dirty="0"/>
          </a:p>
        </p:txBody>
      </p:sp>
      <p:sp>
        <p:nvSpPr>
          <p:cNvPr id="28" name="Text 26"/>
          <p:cNvSpPr/>
          <p:nvPr/>
        </p:nvSpPr>
        <p:spPr>
          <a:xfrm>
            <a:off x="6524061" y="2148108"/>
            <a:ext cx="614843" cy="770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2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132" dirty="0"/>
          </a:p>
        </p:txBody>
      </p:sp>
      <p:sp>
        <p:nvSpPr>
          <p:cNvPr id="29" name="Shape 27"/>
          <p:cNvSpPr/>
          <p:nvPr/>
        </p:nvSpPr>
        <p:spPr>
          <a:xfrm>
            <a:off x="7498080" y="1554480"/>
            <a:ext cx="4187952" cy="1874520"/>
          </a:xfrm>
          <a:prstGeom prst="roundRect">
            <a:avLst>
              <a:gd name="adj" fmla="val 4878"/>
            </a:avLst>
          </a:prstGeom>
          <a:solidFill>
            <a:srgbClr val="0A2C22"/>
          </a:solidFill>
          <a:ln w="12700">
            <a:solidFill>
              <a:srgbClr val="B787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 (seat 1)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26680" y="2103120"/>
            <a:ext cx="584850" cy="820217"/>
          </a:xfrm>
          <a:prstGeom prst="roundRect">
            <a:avLst>
              <a:gd name="adj" fmla="val 1094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63256" y="2121408"/>
            <a:ext cx="511698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8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82" dirty="0"/>
          </a:p>
        </p:txBody>
      </p:sp>
      <p:sp>
        <p:nvSpPr>
          <p:cNvPr id="33" name="Text 31"/>
          <p:cNvSpPr/>
          <p:nvPr/>
        </p:nvSpPr>
        <p:spPr>
          <a:xfrm>
            <a:off x="7726680" y="2145914"/>
            <a:ext cx="584850" cy="728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2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028" dirty="0"/>
          </a:p>
        </p:txBody>
      </p:sp>
      <p:sp>
        <p:nvSpPr>
          <p:cNvPr id="34" name="Shape 32"/>
          <p:cNvSpPr/>
          <p:nvPr/>
        </p:nvSpPr>
        <p:spPr>
          <a:xfrm>
            <a:off x="8402970" y="2103120"/>
            <a:ext cx="584850" cy="820217"/>
          </a:xfrm>
          <a:prstGeom prst="roundRect">
            <a:avLst>
              <a:gd name="adj" fmla="val 1094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39546" y="2121408"/>
            <a:ext cx="511698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82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82" dirty="0"/>
          </a:p>
        </p:txBody>
      </p:sp>
      <p:sp>
        <p:nvSpPr>
          <p:cNvPr id="36" name="Text 34"/>
          <p:cNvSpPr/>
          <p:nvPr/>
        </p:nvSpPr>
        <p:spPr>
          <a:xfrm>
            <a:off x="8402970" y="2145914"/>
            <a:ext cx="584850" cy="728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28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28" dirty="0"/>
          </a:p>
        </p:txBody>
      </p:sp>
      <p:sp>
        <p:nvSpPr>
          <p:cNvPr id="37" name="Shape 35"/>
          <p:cNvSpPr/>
          <p:nvPr/>
        </p:nvSpPr>
        <p:spPr>
          <a:xfrm>
            <a:off x="9079260" y="2103120"/>
            <a:ext cx="584850" cy="820217"/>
          </a:xfrm>
          <a:prstGeom prst="roundRect">
            <a:avLst>
              <a:gd name="adj" fmla="val 1094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15836" y="2121408"/>
            <a:ext cx="511698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8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82" dirty="0"/>
          </a:p>
        </p:txBody>
      </p:sp>
      <p:sp>
        <p:nvSpPr>
          <p:cNvPr id="39" name="Text 37"/>
          <p:cNvSpPr/>
          <p:nvPr/>
        </p:nvSpPr>
        <p:spPr>
          <a:xfrm>
            <a:off x="9079260" y="2145914"/>
            <a:ext cx="584850" cy="728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2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028" dirty="0"/>
          </a:p>
        </p:txBody>
      </p:sp>
      <p:sp>
        <p:nvSpPr>
          <p:cNvPr id="40" name="Shape 38"/>
          <p:cNvSpPr/>
          <p:nvPr/>
        </p:nvSpPr>
        <p:spPr>
          <a:xfrm>
            <a:off x="9755551" y="2103120"/>
            <a:ext cx="584850" cy="820217"/>
          </a:xfrm>
          <a:prstGeom prst="roundRect">
            <a:avLst>
              <a:gd name="adj" fmla="val 1094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792127" y="2121408"/>
            <a:ext cx="511698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82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82" dirty="0"/>
          </a:p>
        </p:txBody>
      </p:sp>
      <p:sp>
        <p:nvSpPr>
          <p:cNvPr id="42" name="Text 40"/>
          <p:cNvSpPr/>
          <p:nvPr/>
        </p:nvSpPr>
        <p:spPr>
          <a:xfrm>
            <a:off x="9755551" y="2145914"/>
            <a:ext cx="584850" cy="728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28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028" dirty="0"/>
          </a:p>
        </p:txBody>
      </p:sp>
      <p:sp>
        <p:nvSpPr>
          <p:cNvPr id="43" name="Text 41"/>
          <p:cNvSpPr/>
          <p:nvPr/>
        </p:nvSpPr>
        <p:spPr>
          <a:xfrm>
            <a:off x="7726680" y="3035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shows  4 5 6 J   ·   downs hidden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365760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125240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made low:  </a:t>
            </a:r>
            <a:pPr indent="0" marL="0">
              <a:buNone/>
            </a:pPr>
            <a:r>
              <a:rPr lang="en-US" sz="2200" b="1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8-7-5-3-2</a:t>
            </a:r>
            <a:pPr indent="0" marL="0">
              <a:buNone/>
            </a:pPr>
            <a:r>
              <a:rPr lang="en-US" sz="16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(an eight-low)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3152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but not the nuts — beats any pair or a nine-low, loses to a seven or better.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98080" y="3657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8B24A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0" y="3767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9808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50" name="Shape 48"/>
          <p:cNvSpPr/>
          <p:nvPr/>
        </p:nvSpPr>
        <p:spPr>
          <a:xfrm>
            <a:off x="9674352" y="3657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25240"/>
          </a:solidFill>
          <a:ln w="12700">
            <a:solidFill>
              <a:srgbClr val="E8B2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74352" y="3767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74352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7th</a:t>
            </a:r>
            <a:endParaRPr lang="en-US" sz="3400" dirty="0"/>
          </a:p>
        </p:txBody>
      </p:sp>
      <p:sp>
        <p:nvSpPr>
          <p:cNvPr id="53" name="Text 51"/>
          <p:cNvSpPr/>
          <p:nvPr/>
        </p:nvSpPr>
        <p:spPr>
          <a:xfrm>
            <a:off x="502920" y="48920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middling eight-low and a lower-looking board, do you bet, check, and how do you react when the opponent fires? We will ask the solver against a realistic polarized range.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55" name="Text 53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opponent range we lock 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a meaningful answer you must tell the solver what the opponent can have. We use a realistic, polarized six-combo range on this board — two made lows that beat us, four busted hands we beat.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  <a:effectLst>
            <a:outerShdw sx="100000" sy="100000" kx="0" ky="0" algn="bl" rotWithShape="0" blurRad="76200" dist="25400" dir="5400000">
              <a:srgbClr val="BBB2A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B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US  ·  made lows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017520"/>
            <a:ext cx="494873" cy="694030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3816" y="3035808"/>
            <a:ext cx="421721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4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4" dirty="0"/>
          </a:p>
        </p:txBody>
      </p:sp>
      <p:sp>
        <p:nvSpPr>
          <p:cNvPr id="9" name="Text 7"/>
          <p:cNvSpPr/>
          <p:nvPr/>
        </p:nvSpPr>
        <p:spPr>
          <a:xfrm>
            <a:off x="777240" y="3053730"/>
            <a:ext cx="494873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716" dirty="0"/>
          </a:p>
        </p:txBody>
      </p:sp>
      <p:sp>
        <p:nvSpPr>
          <p:cNvPr id="10" name="Shape 8"/>
          <p:cNvSpPr/>
          <p:nvPr/>
        </p:nvSpPr>
        <p:spPr>
          <a:xfrm>
            <a:off x="1363553" y="3017520"/>
            <a:ext cx="494873" cy="694030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00129" y="3035808"/>
            <a:ext cx="421721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4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4" dirty="0"/>
          </a:p>
        </p:txBody>
      </p:sp>
      <p:sp>
        <p:nvSpPr>
          <p:cNvPr id="12" name="Text 10"/>
          <p:cNvSpPr/>
          <p:nvPr/>
        </p:nvSpPr>
        <p:spPr>
          <a:xfrm>
            <a:off x="1363553" y="3053730"/>
            <a:ext cx="494873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716" dirty="0"/>
          </a:p>
        </p:txBody>
      </p:sp>
      <p:sp>
        <p:nvSpPr>
          <p:cNvPr id="13" name="Shape 11"/>
          <p:cNvSpPr/>
          <p:nvPr/>
        </p:nvSpPr>
        <p:spPr>
          <a:xfrm>
            <a:off x="1949867" y="3017520"/>
            <a:ext cx="494873" cy="694030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86443" y="3035808"/>
            <a:ext cx="421721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4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4" dirty="0"/>
          </a:p>
        </p:txBody>
      </p:sp>
      <p:sp>
        <p:nvSpPr>
          <p:cNvPr id="15" name="Text 13"/>
          <p:cNvSpPr/>
          <p:nvPr/>
        </p:nvSpPr>
        <p:spPr>
          <a:xfrm>
            <a:off x="1949867" y="3053730"/>
            <a:ext cx="494873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716" dirty="0"/>
          </a:p>
        </p:txBody>
      </p:sp>
      <p:sp>
        <p:nvSpPr>
          <p:cNvPr id="16" name="Text 14"/>
          <p:cNvSpPr/>
          <p:nvPr/>
        </p:nvSpPr>
        <p:spPr>
          <a:xfrm>
            <a:off x="2880360" y="3063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six-low  (6-5-4-2-A)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3931920"/>
            <a:ext cx="494873" cy="694030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3816" y="3950208"/>
            <a:ext cx="421721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4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4" dirty="0"/>
          </a:p>
        </p:txBody>
      </p:sp>
      <p:sp>
        <p:nvSpPr>
          <p:cNvPr id="19" name="Text 17"/>
          <p:cNvSpPr/>
          <p:nvPr/>
        </p:nvSpPr>
        <p:spPr>
          <a:xfrm>
            <a:off x="777240" y="3968130"/>
            <a:ext cx="494873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716" dirty="0"/>
          </a:p>
        </p:txBody>
      </p:sp>
      <p:sp>
        <p:nvSpPr>
          <p:cNvPr id="20" name="Shape 18"/>
          <p:cNvSpPr/>
          <p:nvPr/>
        </p:nvSpPr>
        <p:spPr>
          <a:xfrm>
            <a:off x="1363553" y="3931920"/>
            <a:ext cx="494873" cy="694030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00129" y="3950208"/>
            <a:ext cx="421721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4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4" dirty="0"/>
          </a:p>
        </p:txBody>
      </p:sp>
      <p:sp>
        <p:nvSpPr>
          <p:cNvPr id="22" name="Text 20"/>
          <p:cNvSpPr/>
          <p:nvPr/>
        </p:nvSpPr>
        <p:spPr>
          <a:xfrm>
            <a:off x="1363553" y="3968130"/>
            <a:ext cx="494873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716" dirty="0"/>
          </a:p>
        </p:txBody>
      </p:sp>
      <p:sp>
        <p:nvSpPr>
          <p:cNvPr id="23" name="Shape 21"/>
          <p:cNvSpPr/>
          <p:nvPr/>
        </p:nvSpPr>
        <p:spPr>
          <a:xfrm>
            <a:off x="1949867" y="3931920"/>
            <a:ext cx="494873" cy="694030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86443" y="3950208"/>
            <a:ext cx="421721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4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4" dirty="0"/>
          </a:p>
        </p:txBody>
      </p:sp>
      <p:sp>
        <p:nvSpPr>
          <p:cNvPr id="25" name="Text 23"/>
          <p:cNvSpPr/>
          <p:nvPr/>
        </p:nvSpPr>
        <p:spPr>
          <a:xfrm>
            <a:off x="1949867" y="3968130"/>
            <a:ext cx="494873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716" dirty="0"/>
          </a:p>
        </p:txBody>
      </p:sp>
      <p:sp>
        <p:nvSpPr>
          <p:cNvPr id="26" name="Text 24"/>
          <p:cNvSpPr/>
          <p:nvPr/>
        </p:nvSpPr>
        <p:spPr>
          <a:xfrm>
            <a:off x="2880360" y="3977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six-low  (6-5-4-3-2)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846320"/>
            <a:ext cx="493776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9560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make a six — better than your eight-low. Pay them off only the right share.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99632" y="233172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  <a:effectLst>
            <a:outerShdw sx="100000" sy="100000" kx="0" ky="0" algn="bl" rotWithShape="0" blurRad="76200" dist="25400" dir="5400000">
              <a:srgbClr val="BBB2A0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73952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BEAT  ·  busted hands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73952" y="2907792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10528" y="2926080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73952" y="2935224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12864" y="2907792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49440" y="2926080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12864" y="2935224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51776" y="2907792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88352" y="2926080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51776" y="2935224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83880" y="2889504"/>
            <a:ext cx="3429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nines — T-9 high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73952" y="3557016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10528" y="3575304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73952" y="3584448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912864" y="3557016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949440" y="3575304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12864" y="3584448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351776" y="3557016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88352" y="3575304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51776" y="3584448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183880" y="3538728"/>
            <a:ext cx="3429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tens — T-9 high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73952" y="4206240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510528" y="4224528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73952" y="4233672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912864" y="4206240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949440" y="4224528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912864" y="4233672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351776" y="4206240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388352" y="4224528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351776" y="4233672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183880" y="4187952"/>
            <a:ext cx="3429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queens — bricked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473952" y="4855464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510528" y="4873752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73952" y="4882896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912864" y="4855464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949440" y="4873752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912864" y="4882896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351776" y="4855464"/>
            <a:ext cx="374904" cy="52578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388352" y="4873752"/>
            <a:ext cx="301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351776" y="4882896"/>
            <a:ext cx="374904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8183880" y="4837176"/>
            <a:ext cx="3429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kings — bricked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polarized?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with only value or only air has a trivial answer. Mixing made hands with busted ones is what forces the solver into an interesting, mixed strategy — exactly what we want to study.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73" name="Text 71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· NODE-LOCKED EXACT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it: npm run razz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tool. You provide the board, your exact down cards, and the opponent's exact holdings. Exact CFR+ against that specific range.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0A2C22"/>
          </a:solidFill>
          <a:ln w="12700">
            <a:solidFill>
              <a:srgbClr val="B7872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4088" y="2240280"/>
            <a:ext cx="109728" cy="109728"/>
          </a:xfrm>
          <a:prstGeom prst="ellipse">
            <a:avLst/>
          </a:prstGeom>
          <a:solidFill>
            <a:srgbClr val="D9544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86968" y="2240280"/>
            <a:ext cx="109728" cy="109728"/>
          </a:xfrm>
          <a:prstGeom prst="ellipse">
            <a:avLst/>
          </a:prstGeom>
          <a:solidFill>
            <a:srgbClr val="E8B24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" y="2240280"/>
            <a:ext cx="109728" cy="109728"/>
          </a:xfrm>
          <a:prstGeom prst="ellipse">
            <a:avLst/>
          </a:prstGeom>
          <a:solidFill>
            <a:srgbClr val="5FB98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2148840"/>
            <a:ext cx="10149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repo root: /…/wsop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2459736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razz -- --street 7 \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--up0 2s3d7c9h  --up1 4c5h6sJd \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--me 8d5cKh \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--opp-range "Ah2d7s, 2h3d8s, 9h9sTc, KhKsQd, ThTs9c, QhQsTd" \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--pot 20 --iters 5000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--up0 / --up1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/ opp upcards
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exact 3 down cards
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--opp-range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node-locked combos (≤60)
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--pot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in chips
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--game razz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variant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416052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0E3B2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28232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THIS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8232" y="461772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can read the opponent down to a handful of hands — e.g. they completed and showed strength, so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made 6, or a paired-up brick."
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want the razor-sharp exact line vs a specific player, not a population average.
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Spot study / debriefing a real hand.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· THE REAL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solver said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0E3B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51790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 (CHIPS)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151790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0" y="151790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09360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SOLVED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0" y="15179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44000" y="20665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TIME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 (CHIPS)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SOLVED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0" y="20665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TIME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514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JSON keyed by betting history. Read each line as: who acts, what they can do, how often. Empty history = (root).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8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(root)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0632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331720" y="3081528"/>
            <a:ext cx="5480914" cy="347472"/>
          </a:xfrm>
          <a:prstGeom prst="rect">
            <a:avLst/>
          </a:prstGeom>
          <a:solidFill>
            <a:srgbClr val="5FB98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331720" y="3081528"/>
            <a:ext cx="54809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99.9%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31720" y="3081528"/>
            <a:ext cx="5486400" cy="347472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01000" y="30632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whole range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5387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8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53872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331720" y="3557016"/>
            <a:ext cx="2671877" cy="347472"/>
          </a:xfrm>
          <a:prstGeom prst="rect">
            <a:avLst/>
          </a:prstGeom>
          <a:solidFill>
            <a:srgbClr val="5C746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331720" y="3557016"/>
            <a:ext cx="26718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48.7%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03597" y="3557016"/>
            <a:ext cx="2814523" cy="34747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003597" y="3557016"/>
            <a:ext cx="28145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51.3%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31720" y="3557016"/>
            <a:ext cx="5486400" cy="347472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01000" y="3538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checks / bets ~50-50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0142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8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401421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331720" y="4032504"/>
            <a:ext cx="1514246" cy="347472"/>
          </a:xfrm>
          <a:prstGeom prst="rect">
            <a:avLst/>
          </a:prstGeom>
          <a:solidFill>
            <a:srgbClr val="D9544D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331720" y="4032504"/>
            <a:ext cx="15142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27.6%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845966" y="4032504"/>
            <a:ext cx="3972154" cy="347472"/>
          </a:xfrm>
          <a:prstGeom prst="rect">
            <a:avLst/>
          </a:prstGeom>
          <a:solidFill>
            <a:srgbClr val="5FB98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845966" y="4032504"/>
            <a:ext cx="39721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72.4%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331720" y="4032504"/>
            <a:ext cx="5486400" cy="347472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001000" y="40142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Bluff-catch: call 72 / fold 28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448970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8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371600" y="4489704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331720" y="4507992"/>
            <a:ext cx="1168603" cy="347472"/>
          </a:xfrm>
          <a:prstGeom prst="rect">
            <a:avLst/>
          </a:prstGeom>
          <a:solidFill>
            <a:srgbClr val="D9544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331720" y="4507992"/>
            <a:ext cx="11686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21.3%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500323" y="4507992"/>
            <a:ext cx="296266" cy="347472"/>
          </a:xfrm>
          <a:prstGeom prst="rect">
            <a:avLst/>
          </a:prstGeom>
          <a:solidFill>
            <a:srgbClr val="5C7468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3796589" y="4507992"/>
            <a:ext cx="4021531" cy="34747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796589" y="4507992"/>
            <a:ext cx="40215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73.3%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331720" y="4507992"/>
            <a:ext cx="5486400" cy="347472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001000" y="44897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raise, opp 3-bets 73%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2920" y="49651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8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371600" y="496519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2331720" y="4983480"/>
            <a:ext cx="2600554" cy="347472"/>
          </a:xfrm>
          <a:prstGeom prst="rect">
            <a:avLst/>
          </a:prstGeom>
          <a:solidFill>
            <a:srgbClr val="D9544D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331720" y="4983480"/>
            <a:ext cx="26005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47.4%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932274" y="4983480"/>
            <a:ext cx="307238" cy="347472"/>
          </a:xfrm>
          <a:prstGeom prst="rect">
            <a:avLst/>
          </a:prstGeom>
          <a:solidFill>
            <a:srgbClr val="5C7468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5239512" y="4983480"/>
            <a:ext cx="2584094" cy="34747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239512" y="4983480"/>
            <a:ext cx="25840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47.1%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331720" y="4983480"/>
            <a:ext cx="5486400" cy="347472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001000" y="49651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lead, opp folds 47%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</a:t>
            </a:r>
            <a:pPr indent="0" marL="0">
              <a:buNone/>
            </a:pPr>
            <a:r>
              <a:rPr lang="en-US" sz="145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root, then </a:t>
            </a:r>
            <a:pPr indent="0" marL="0">
              <a:buNone/>
            </a:pPr>
            <a:r>
              <a:rPr lang="en-US" sz="14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72% / fold 28%</a:t>
            </a:r>
            <a:pPr indent="0" marL="0">
              <a:buNone/>
            </a:pPr>
            <a:r>
              <a:rPr lang="en-US" sz="145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bet into. A near-break-even, textbook mixed bluff-catch.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· RANGE VS RANGE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it: npm run solve:range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node-locking. Give BOTH players a range and the solver finds the equilibrium for both — a true re-solver. Add --me to also print your specific hand's 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0A2C22"/>
          </a:solidFill>
          <a:ln w="12700">
            <a:solidFill>
              <a:srgbClr val="B78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286000"/>
            <a:ext cx="109728" cy="109728"/>
          </a:xfrm>
          <a:prstGeom prst="ellipse">
            <a:avLst/>
          </a:prstGeom>
          <a:solidFill>
            <a:srgbClr val="D9544D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286000"/>
            <a:ext cx="109728" cy="109728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286000"/>
            <a:ext cx="109728" cy="109728"/>
          </a:xfrm>
          <a:prstGeom prst="ellipse">
            <a:avLst/>
          </a:prstGeom>
          <a:solidFill>
            <a:srgbClr val="5FB98E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194560"/>
            <a:ext cx="10149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repo root: /…/wsop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2505456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solve:range -- --game razz --street 7 \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--up0 2s3d7c9h  --up1 4c5h6sJd  --pot 20 \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--r0 "8d5cKh, 7d5cKh, 8d6cAh, 6d5cAh, 8d4cKh, 8d5cTh" \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--r1 "Ah2d7s, 2h3d8s, 9h9sTc, KhKsQd, ThTs9c, QhQsTd" \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--me "8d 5c Kh"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4805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17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RANGE FLAGS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93776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--r0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range  (or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--r1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range  (or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hand to report its own line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99632" y="44805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0E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4617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THIS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8232" y="493776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think in ranges, not specific combos — the realistic case.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want the equilibrium where the opponent is also playing well (not pinned).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--r1 all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study your hand vs the opponent's entire continuing range.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· THE REAL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range's line — and yours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0E3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751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2900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29000" y="19751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+2.48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0" y="19751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EV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0684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006840" y="19751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 —  the whole range's reach-weighted 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  —  me_strategy for 8d 5c Kh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2971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325880" y="2999232"/>
            <a:ext cx="3971422" cy="310896"/>
          </a:xfrm>
          <a:prstGeom prst="rect">
            <a:avLst/>
          </a:prstGeom>
          <a:solidFill>
            <a:srgbClr val="5FB98E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2999232"/>
            <a:ext cx="39714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97.6%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97302" y="2999232"/>
            <a:ext cx="97658" cy="310896"/>
          </a:xfrm>
          <a:prstGeom prst="rect">
            <a:avLst/>
          </a:prstGeom>
          <a:solidFill>
            <a:srgbClr val="6FA8DC"/>
          </a:solidFill>
          <a:ln/>
        </p:spPr>
      </p:sp>
      <p:sp>
        <p:nvSpPr>
          <p:cNvPr id="19" name="Shape 17"/>
          <p:cNvSpPr/>
          <p:nvPr/>
        </p:nvSpPr>
        <p:spPr>
          <a:xfrm>
            <a:off x="1325880" y="2999232"/>
            <a:ext cx="4069080" cy="310896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290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325880" y="3456432"/>
            <a:ext cx="2270547" cy="310896"/>
          </a:xfrm>
          <a:prstGeom prst="rect">
            <a:avLst/>
          </a:prstGeom>
          <a:solidFill>
            <a:srgbClr val="5C7468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456432"/>
            <a:ext cx="22705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55.8%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96427" y="3456432"/>
            <a:ext cx="1798533" cy="310896"/>
          </a:xfrm>
          <a:prstGeom prst="rect">
            <a:avLst/>
          </a:prstGeom>
          <a:solidFill>
            <a:srgbClr val="6FA8DC"/>
          </a:solidFill>
          <a:ln/>
        </p:spPr>
      </p:sp>
      <p:sp>
        <p:nvSpPr>
          <p:cNvPr id="24" name="Text 22"/>
          <p:cNvSpPr/>
          <p:nvPr/>
        </p:nvSpPr>
        <p:spPr>
          <a:xfrm>
            <a:off x="3596427" y="3456432"/>
            <a:ext cx="17985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44.2%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25880" y="3456432"/>
            <a:ext cx="4069080" cy="310896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86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325880" y="3913632"/>
            <a:ext cx="1139342" cy="310896"/>
          </a:xfrm>
          <a:prstGeom prst="rect">
            <a:avLst/>
          </a:prstGeom>
          <a:solidFill>
            <a:srgbClr val="D9544D"/>
          </a:solidFill>
          <a:ln/>
        </p:spPr>
      </p:sp>
      <p:sp>
        <p:nvSpPr>
          <p:cNvPr id="28" name="Text 26"/>
          <p:cNvSpPr/>
          <p:nvPr/>
        </p:nvSpPr>
        <p:spPr>
          <a:xfrm>
            <a:off x="1325880" y="3913632"/>
            <a:ext cx="11393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28%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65222" y="3913632"/>
            <a:ext cx="2071162" cy="310896"/>
          </a:xfrm>
          <a:prstGeom prst="rect">
            <a:avLst/>
          </a:prstGeom>
          <a:solidFill>
            <a:srgbClr val="5FB98E"/>
          </a:solidFill>
          <a:ln/>
        </p:spPr>
      </p:sp>
      <p:sp>
        <p:nvSpPr>
          <p:cNvPr id="30" name="Text 28"/>
          <p:cNvSpPr/>
          <p:nvPr/>
        </p:nvSpPr>
        <p:spPr>
          <a:xfrm>
            <a:off x="2465222" y="3913632"/>
            <a:ext cx="20711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50.9%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36384" y="3913632"/>
            <a:ext cx="858576" cy="310896"/>
          </a:xfrm>
          <a:prstGeom prst="rect">
            <a:avLst/>
          </a:prstGeom>
          <a:solidFill>
            <a:srgbClr val="6FA8DC"/>
          </a:solidFill>
          <a:ln/>
        </p:spPr>
      </p:sp>
      <p:sp>
        <p:nvSpPr>
          <p:cNvPr id="32" name="Text 30"/>
          <p:cNvSpPr/>
          <p:nvPr/>
        </p:nvSpPr>
        <p:spPr>
          <a:xfrm>
            <a:off x="4536384" y="3913632"/>
            <a:ext cx="85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21.1%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25880" y="3913632"/>
            <a:ext cx="4069080" cy="310896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3434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325880" y="4370832"/>
            <a:ext cx="2677455" cy="310896"/>
          </a:xfrm>
          <a:prstGeom prst="rect">
            <a:avLst/>
          </a:prstGeom>
          <a:solidFill>
            <a:srgbClr val="D9544D"/>
          </a:solidFill>
          <a:ln/>
        </p:spPr>
      </p:sp>
      <p:sp>
        <p:nvSpPr>
          <p:cNvPr id="36" name="Text 34"/>
          <p:cNvSpPr/>
          <p:nvPr/>
        </p:nvSpPr>
        <p:spPr>
          <a:xfrm>
            <a:off x="1325880" y="4370832"/>
            <a:ext cx="2677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65.8%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003335" y="4370832"/>
            <a:ext cx="435392" cy="310896"/>
          </a:xfrm>
          <a:prstGeom prst="rect">
            <a:avLst/>
          </a:prstGeom>
          <a:solidFill>
            <a:srgbClr val="5C7468"/>
          </a:solidFill>
          <a:ln/>
        </p:spPr>
      </p:sp>
      <p:sp>
        <p:nvSpPr>
          <p:cNvPr id="38" name="Shape 36"/>
          <p:cNvSpPr/>
          <p:nvPr/>
        </p:nvSpPr>
        <p:spPr>
          <a:xfrm>
            <a:off x="4438726" y="4370832"/>
            <a:ext cx="956234" cy="310896"/>
          </a:xfrm>
          <a:prstGeom prst="rect">
            <a:avLst/>
          </a:prstGeom>
          <a:solidFill>
            <a:srgbClr val="6FA8DC"/>
          </a:solidFill>
          <a:ln/>
        </p:spPr>
      </p:sp>
      <p:sp>
        <p:nvSpPr>
          <p:cNvPr id="39" name="Text 37"/>
          <p:cNvSpPr/>
          <p:nvPr/>
        </p:nvSpPr>
        <p:spPr>
          <a:xfrm>
            <a:off x="4438726" y="4370832"/>
            <a:ext cx="9562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23.5%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325880" y="4370832"/>
            <a:ext cx="4069080" cy="310896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971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178040" y="2999232"/>
            <a:ext cx="4003975" cy="310896"/>
          </a:xfrm>
          <a:prstGeom prst="rect">
            <a:avLst/>
          </a:prstGeom>
          <a:solidFill>
            <a:srgbClr val="5FB98E"/>
          </a:solidFill>
          <a:ln/>
        </p:spPr>
      </p:sp>
      <p:sp>
        <p:nvSpPr>
          <p:cNvPr id="43" name="Text 41"/>
          <p:cNvSpPr/>
          <p:nvPr/>
        </p:nvSpPr>
        <p:spPr>
          <a:xfrm>
            <a:off x="7178040" y="2999232"/>
            <a:ext cx="4003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98.4%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1182015" y="2999232"/>
            <a:ext cx="65105" cy="310896"/>
          </a:xfrm>
          <a:prstGeom prst="rect">
            <a:avLst/>
          </a:prstGeom>
          <a:solidFill>
            <a:srgbClr val="6FA8DC"/>
          </a:solidFill>
          <a:ln/>
        </p:spPr>
      </p:sp>
      <p:sp>
        <p:nvSpPr>
          <p:cNvPr id="45" name="Shape 43"/>
          <p:cNvSpPr/>
          <p:nvPr/>
        </p:nvSpPr>
        <p:spPr>
          <a:xfrm>
            <a:off x="7178040" y="2999232"/>
            <a:ext cx="4069080" cy="310896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4290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178040" y="3456432"/>
            <a:ext cx="1387556" cy="310896"/>
          </a:xfrm>
          <a:prstGeom prst="rect">
            <a:avLst/>
          </a:prstGeom>
          <a:solidFill>
            <a:srgbClr val="D9544D"/>
          </a:solidFill>
          <a:ln/>
        </p:spPr>
      </p:sp>
      <p:sp>
        <p:nvSpPr>
          <p:cNvPr id="48" name="Text 46"/>
          <p:cNvSpPr/>
          <p:nvPr/>
        </p:nvSpPr>
        <p:spPr>
          <a:xfrm>
            <a:off x="7178040" y="3456432"/>
            <a:ext cx="13875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34.1%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565596" y="3456432"/>
            <a:ext cx="2604211" cy="310896"/>
          </a:xfrm>
          <a:prstGeom prst="rect">
            <a:avLst/>
          </a:prstGeom>
          <a:solidFill>
            <a:srgbClr val="5FB98E"/>
          </a:solidFill>
          <a:ln/>
        </p:spPr>
      </p:sp>
      <p:sp>
        <p:nvSpPr>
          <p:cNvPr id="50" name="Text 48"/>
          <p:cNvSpPr/>
          <p:nvPr/>
        </p:nvSpPr>
        <p:spPr>
          <a:xfrm>
            <a:off x="8565596" y="3456432"/>
            <a:ext cx="26042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64%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1169807" y="3456432"/>
            <a:ext cx="77313" cy="310896"/>
          </a:xfrm>
          <a:prstGeom prst="rect">
            <a:avLst/>
          </a:prstGeom>
          <a:solidFill>
            <a:srgbClr val="6FA8DC"/>
          </a:solidFill>
          <a:ln/>
        </p:spPr>
      </p:sp>
      <p:sp>
        <p:nvSpPr>
          <p:cNvPr id="52" name="Shape 50"/>
          <p:cNvSpPr/>
          <p:nvPr/>
        </p:nvSpPr>
        <p:spPr>
          <a:xfrm>
            <a:off x="7178040" y="3456432"/>
            <a:ext cx="4069080" cy="310896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39319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is the on-path node for this exact hand — the same bluff-catch as Mode 1 (call 64 / fold 34).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355080" y="470916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this hand never reaches print uniform — that is the engine being honest about off-path lines, not a strategy.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  </a:t>
            </a:r>
            <a:pPr indent="0" marL="0">
              <a:buNone/>
            </a:pPr>
            <a:r>
              <a:rPr lang="en-US" sz="14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is what your </a:t>
            </a:r>
            <a:pPr indent="0" marL="0">
              <a:buNone/>
            </a:pPr>
            <a:r>
              <a:rPr lang="en-US" sz="140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range</a:t>
            </a:r>
            <a:pPr indent="0" marL="0">
              <a:buNone/>
            </a:pPr>
            <a:r>
              <a:rPr lang="en-US" sz="14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at each node; </a:t>
            </a:r>
            <a:pPr indent="0" marL="0">
              <a:buNone/>
            </a:pPr>
            <a:r>
              <a:rPr lang="en-US" sz="1400" b="1" dirty="0">
                <a:solidFill>
                  <a:srgbClr val="123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me_strategy</a:t>
            </a:r>
            <a:pPr indent="0" marL="0">
              <a:buNone/>
            </a:pPr>
            <a:r>
              <a:rPr lang="en-US" sz="14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zooms in on the one hand you hold.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57" name="Text 55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· SIZING THE RANGE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below 1200, else bucketed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solve:range auto-picks its engine by how many holdings the two ranges span. You don't choose — but you should know which one you got.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5FB98E"/>
            </a:solidFill>
            <a:prstDash val="solid"/>
          </a:ln>
          <a:effectLst>
            <a:outerShdw sx="100000" sy="100000" kx="0" ky="0" algn="bl" rotWithShape="0" blurRad="76200" dist="25400" dir="5400000">
              <a:srgbClr val="BBB2A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1200 holdings   </a:t>
            </a:r>
            <a:pPr indent="0" marL="0">
              <a:buNone/>
            </a:pPr>
            <a:r>
              <a:rPr lang="en-US" sz="1800" b="1" dirty="0">
                <a:solidFill>
                  <a:srgbClr val="5FB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Raw-holding CFR+, NumPy-vectorized. The precise answer; solves in well under a second.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spot: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6-vs-6 ranges span n = 12 holdings → mode = exact.  EV +2.48, exploitability 0.268.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219456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B7872E"/>
            </a:solidFill>
            <a:prstDash val="solid"/>
          </a:ln>
          <a:effectLst>
            <a:outerShdw sx="100000" sy="100000" kx="0" ky="0" algn="bl" rotWithShape="0" blurRad="76200" dist="25400" dir="5400000">
              <a:srgbClr val="BBB2A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/ all   </a:t>
            </a:r>
            <a:pPr indent="0" marL="0">
              <a:buNone/>
            </a:pPr>
            <a:r>
              <a:rPr lang="en-US" sz="1800" b="1" dirty="0">
                <a:solidFill>
                  <a:srgbClr val="B78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27889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over an 8-bucket razz low ladder in ~1.5 s. Fast, but an approximation — resolution is lost to the abstraction.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3952" y="37033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board, --r0 all --r1 all: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= bucketed, n = 8, your hand → bucket 3.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617720"/>
            <a:ext cx="6675120" cy="1481328"/>
          </a:xfrm>
          <a:prstGeom prst="roundRect">
            <a:avLst>
              <a:gd name="adj" fmla="val 4938"/>
            </a:avLst>
          </a:prstGeom>
          <a:solidFill>
            <a:srgbClr val="0A2C22"/>
          </a:solidFill>
          <a:ln w="12700">
            <a:solidFill>
              <a:srgbClr val="B787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800600"/>
            <a:ext cx="109728" cy="109728"/>
          </a:xfrm>
          <a:prstGeom prst="ellipse">
            <a:avLst/>
          </a:prstGeom>
          <a:solidFill>
            <a:srgbClr val="D954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" y="4800600"/>
            <a:ext cx="109728" cy="109728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" y="4800600"/>
            <a:ext cx="109728" cy="109728"/>
          </a:xfrm>
          <a:prstGeom prst="ellipse">
            <a:avLst/>
          </a:prstGeom>
          <a:solidFill>
            <a:srgbClr val="5FB98E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7091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the wide-range variant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" y="5020056"/>
            <a:ext cx="6217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solve:range -- --game razz --street 7 \</a:t>
            </a:r>
            <a:endParaRPr lang="en-US" sz="1250" dirty="0"/>
          </a:p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--up0 2s3d7c9h --up1 4c5h6sJd --pot 20 \</a:t>
            </a:r>
            <a:endParaRPr lang="en-US" sz="1250" dirty="0"/>
          </a:p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--r0 all --r1 all --me "8d 5c Kh"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06640" y="4617720"/>
            <a:ext cx="4279392" cy="1481328"/>
          </a:xfrm>
          <a:prstGeom prst="roundRect">
            <a:avLst>
              <a:gd name="adj" fmla="val 6173"/>
            </a:avLst>
          </a:prstGeom>
          <a:solidFill>
            <a:srgbClr val="0E3B2E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4754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Read the mode field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35240" y="5065776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all-vs-all is a far wider input, so you get bucketed (n = 8, EV +2.45). Buckets blur exact hands — trust exact numbers; treat bucketed as directional.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· NO TERMINAL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in the browser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point-and-click. Start the local Python server, open the GUI, and use the editable fields plus preset spots.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0A2C22"/>
          </a:solidFill>
          <a:ln w="12700">
            <a:solidFill>
              <a:srgbClr val="B78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331720"/>
            <a:ext cx="109728" cy="109728"/>
          </a:xfrm>
          <a:prstGeom prst="ellipse">
            <a:avLst/>
          </a:prstGeom>
          <a:solidFill>
            <a:srgbClr val="D9544D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331720"/>
            <a:ext cx="109728" cy="109728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331720"/>
            <a:ext cx="109728" cy="109728"/>
          </a:xfrm>
          <a:prstGeom prst="ellipse">
            <a:avLst/>
          </a:prstGeom>
          <a:solidFill>
            <a:srgbClr val="5FB98E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240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— start the server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2551176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solver/neural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solve_server.py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listening on 127.0.0.1:8000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A2C22"/>
          </a:solidFill>
          <a:ln w="12700">
            <a:solidFill>
              <a:srgbClr val="B787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2331720"/>
            <a:ext cx="109728" cy="109728"/>
          </a:xfrm>
          <a:prstGeom prst="ellipse">
            <a:avLst/>
          </a:prstGeom>
          <a:solidFill>
            <a:srgbClr val="D9544D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7688" y="2331720"/>
            <a:ext cx="109728" cy="109728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30568" y="2331720"/>
            <a:ext cx="109728" cy="109728"/>
          </a:xfrm>
          <a:prstGeom prst="ellipse">
            <a:avLst/>
          </a:prstGeom>
          <a:solidFill>
            <a:srgbClr val="5FB98E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22402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— open the page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9672" y="255117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open solver/\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razz-solver-gui.html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fetches /solve on :8000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11155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  <a:effectLst>
            <a:outerShdw sx="100000" sy="100000" kx="0" ky="0" algn="bl" rotWithShape="0" blurRad="76200" dist="25400" dir="5400000">
              <a:srgbClr val="BBB2A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672584"/>
            <a:ext cx="118872" cy="118872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617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fields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game, street, upcards, hole cards, opp range, pot.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5175504"/>
            <a:ext cx="118872" cy="118872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tabs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nut low · hero behind · Stud 8 scoop.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" y="5541264"/>
            <a:ext cx="118872" cy="118872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486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spot button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JSON you get on the CLI.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26480" y="4672584"/>
            <a:ext cx="118872" cy="118872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617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toggle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futurega.me theme.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126480" y="5175504"/>
            <a:ext cx="118872" cy="118872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server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?server=http://host:port to repoint it.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26480" y="5541264"/>
            <a:ext cx="118872" cy="118872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5486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2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127.0.0.1:8000/health → ok, games razz/stud8.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32" name="Text 30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what's the play — and why?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0A2C22"/>
          </a:solidFill>
          <a:ln w="15875">
            <a:solidFill>
              <a:srgbClr val="E8B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root.  </a:t>
            </a:r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bet into, </a:t>
            </a:r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~72% and fold ~28%.</a:t>
            </a:r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Almost never lead — and don't over-fold your eight to one bet.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to trap &amp; control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act with the lower board, you keep your whole range together. Leading folds out the busted hands you beat and only gets called by better — so you check and let them barrel.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971800"/>
            <a:ext cx="548640" cy="548640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89120" y="3657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eight is a bluff-catcher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420624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polarized range your 8-7-5-3-2 beats every busted pair but loses to every made low. That's the definition of a catch: you're not value-betting it, you're paying off the right share.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971800"/>
            <a:ext cx="548640" cy="548640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92440" y="3657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 27% to stay unexploitable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92440" y="420624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odds say call enough that a pure bluff can't profit, but fold enough that they can't just value-bet you thin forever. The 27/73 split is exactly that balance point.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TRUST A NUMBER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&amp; caveats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  <a:effectLst>
            <a:outerShdw sx="100000" sy="100000" kx="0" ky="0" algn="bl" rotWithShape="0" blurRad="63500" dist="25400" dir="5400000">
              <a:srgbClr val="BBB2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47088"/>
            <a:ext cx="502920" cy="502920"/>
          </a:xfrm>
          <a:prstGeom prst="ellipse">
            <a:avLst/>
          </a:prstGeom>
          <a:solidFill>
            <a:srgbClr val="D9544D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847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Node-locked caps at 60 hands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8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refuses big ranges — "all" on 7th is thousands of combos. Narrow to explicit hands, or switch to Mode 2.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199632" y="15544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  <a:effectLst>
            <a:outerShdw sx="100000" sy="100000" kx="0" ky="0" algn="bl" rotWithShape="0" blurRad="63500" dist="25400" dir="5400000">
              <a:srgbClr val="BBB2A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5664" y="1847088"/>
            <a:ext cx="502920" cy="502920"/>
          </a:xfrm>
          <a:prstGeom prst="ellipse">
            <a:avLst/>
          </a:prstGeom>
          <a:solidFill>
            <a:srgbClr val="B7872E"/>
          </a:solidFill>
          <a:ln/>
        </p:spPr>
      </p:sp>
      <p:sp>
        <p:nvSpPr>
          <p:cNvPr id="11" name="Text 9"/>
          <p:cNvSpPr/>
          <p:nvPr/>
        </p:nvSpPr>
        <p:spPr>
          <a:xfrm>
            <a:off x="6455664" y="1847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14032" y="1719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is in chips, not bb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14032" y="21031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8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value.me is your equilibrium EV for this pot in chips. Here −0.24 on a 20 pot ≈ break-even; scale to your stakes.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  <a:effectLst>
            <a:outerShdw sx="100000" sy="100000" kx="0" ky="0" algn="bl" rotWithShape="0" blurRad="63500" dist="25400" dir="5400000">
              <a:srgbClr val="BBB2A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3401568"/>
            <a:ext cx="502920" cy="502920"/>
          </a:xfrm>
          <a:prstGeom prst="ellipse">
            <a:avLst/>
          </a:prstGeom>
          <a:solidFill>
            <a:srgbClr val="6FA8D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2735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Bucketed = approximate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36576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8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wide ranges check the mode field. "bucketed" blurs hands into 8 razz low buckets — fast and directional, but not the exact answer.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199632" y="31089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  <a:effectLst>
            <a:outerShdw sx="100000" sy="100000" kx="0" ky="0" algn="bl" rotWithShape="0" blurRad="63500" dist="25400" dir="5400000">
              <a:srgbClr val="BBB2A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5664" y="3401568"/>
            <a:ext cx="502920" cy="502920"/>
          </a:xfrm>
          <a:prstGeom prst="ellipse">
            <a:avLst/>
          </a:prstGeom>
          <a:solidFill>
            <a:srgbClr val="5FB98E"/>
          </a:solidFill>
          <a:ln/>
        </p:spPr>
      </p:sp>
      <p:sp>
        <p:nvSpPr>
          <p:cNvPr id="21" name="Text 19"/>
          <p:cNvSpPr/>
          <p:nvPr/>
        </p:nvSpPr>
        <p:spPr>
          <a:xfrm>
            <a:off x="6455664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14032" y="32735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exploitability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14032" y="36576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80" dirty="0">
                <a:solidFill>
                  <a:srgbClr val="5C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closer to exact. 0.039 chips here is essentially solved. If it's a big fraction of the pot, raise --iters and re-run.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920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52120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only as good as the range you feed it.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qualifier in razz — lowest hand wins the whole pot — so straights and flushes are irrelevant; only the five lowest distinct ranks matter. Set --pot to the actual chips in the middle, and node-lock a range you'd actually defend.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1539728" y="6336792"/>
            <a:ext cx="128016" cy="128016"/>
          </a:xfrm>
          <a:prstGeom prst="ellipse">
            <a:avLst/>
          </a:prstGeom>
          <a:solidFill>
            <a:srgbClr val="E8B2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881360" y="6199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2727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solver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743200"/>
            <a:ext cx="8229600" cy="8229600"/>
          </a:xfrm>
          <a:prstGeom prst="ellipse">
            <a:avLst/>
          </a:prstGeom>
          <a:solidFill>
            <a:srgbClr val="1252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commands, in one place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3200400"/>
          </a:xfrm>
          <a:prstGeom prst="roundRect">
            <a:avLst>
              <a:gd name="adj" fmla="val 2286"/>
            </a:avLst>
          </a:prstGeom>
          <a:solidFill>
            <a:srgbClr val="0A2C22"/>
          </a:solidFill>
          <a:ln w="12700">
            <a:solidFill>
              <a:srgbClr val="B7872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4088" y="1920240"/>
            <a:ext cx="109728" cy="109728"/>
          </a:xfrm>
          <a:prstGeom prst="ellipse">
            <a:avLst/>
          </a:prstGeom>
          <a:solidFill>
            <a:srgbClr val="D9544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86968" y="1920240"/>
            <a:ext cx="109728" cy="109728"/>
          </a:xfrm>
          <a:prstGeom prst="ellipse">
            <a:avLst/>
          </a:prstGeom>
          <a:solidFill>
            <a:srgbClr val="E8B24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" y="1920240"/>
            <a:ext cx="109728" cy="109728"/>
          </a:xfrm>
          <a:prstGeom prst="ellipse">
            <a:avLst/>
          </a:prstGeom>
          <a:solidFill>
            <a:srgbClr val="5FB98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1828800"/>
            <a:ext cx="10149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razz solver — copy/paste from repo root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2139696"/>
            <a:ext cx="10698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 1 — node-locked exact (≤60 opp combos):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razz -- --street 7 --up0 2s3d7c9h --up1 4c5h6sJd \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--me 8d5cKh --opp-range "Ah2d7s, 2h3d8s, KhKsQd" --pot 20 --iters 5000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 2 — range vs range (exact ≤1200, else bucketed):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solve:range -- --game razz --street 7 \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--up0 2s3d7c9h --up1 4c5h6sJd --pot 20 \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8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--r0 "8d5cKh, 7d5cKh" --r1 all --me "8d 5c Kh"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9FBA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Browser GUI  (then open solver/razz-solver-gui.html):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solver/neural &amp;&amp; python3 solve_server.py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52120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0A2C22"/>
          </a:solidFill>
          <a:ln w="12700">
            <a:solidFill>
              <a:srgbClr val="B7872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output: 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value.me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your EV in chips   · 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keyed by betting history   · 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action mix   · 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exploitability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0 is solved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327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futurega.me  ·  razz GTO solver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futurega.me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Razz Solver Walkthrough</dc:title>
  <dc:subject>PptxGenJS Presentation</dc:subject>
  <dc:creator>futurega.me</dc:creator>
  <cp:lastModifiedBy>futurega.me</cp:lastModifiedBy>
  <cp:revision>1</cp:revision>
  <dcterms:created xsi:type="dcterms:W3CDTF">2026-06-28T06:55:48Z</dcterms:created>
  <dcterms:modified xsi:type="dcterms:W3CDTF">2026-06-28T06:55:48Z</dcterms:modified>
</cp:coreProperties>
</file>